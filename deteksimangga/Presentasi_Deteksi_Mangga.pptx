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0" y="5029200"/>
            <a:ext cx="1645920" cy="1645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55680" y="5486400"/>
            <a:ext cx="1097280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SISTEM DETEKSI KEMATANGAN MANGGA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CF0F1"/>
                </a:solidFill>
                <a:latin typeface="Segoe UI"/>
              </a:defRPr>
            </a:pPr>
            <a:r>
              <a:t>Menggunakan K-Means Clustering &amp; Minimum Distance Classifier</a:t>
            </a:r>
            <a:br/>
            <a:r>
              <a:t>Berbasis Ekstraksi Fitur Warna RGB dan HSV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4114800"/>
            <a:ext cx="2133295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480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CF0F1"/>
                </a:solidFill>
                <a:latin typeface="Segoe UI"/>
              </a:defRPr>
            </a:pPr>
            <a:r>
              <a:t>Pengolahan Citra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Segoe UI"/>
              </a:defRPr>
            </a:pPr>
            <a:r>
              <a:t>DAFTAR ISI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01   Latar Belakang &amp; Rumusan Masalah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02   Tujuan &amp; Manfaat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03   Landasan Teori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04   Metodologi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05   Dataset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06   Preprocessing &amp; Segmentasi (K-Means)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07   Ekstraksi Fitur Warna (RGB &amp; HSV)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08   Klasifikasi (Minimum Distance Classifier)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09   Implementasi &amp; Arsitektur Sistem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10   Demo Aplikasi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11   Hasil Pengujian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12   Kesimpulan &amp; Saran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Segoe UI"/>
              </a:defRPr>
            </a:pPr>
            <a:r>
              <a:t>01  LATAR BELAKANG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• Sorting kematangan mangga secara manual memiliki beberapa kelemahan: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 - Subjektif (tergantung penglihatan manusia)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 - Tidak konsisten antar individu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 - Lambat untuk jumlah besar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• Diperlukan sistem otomatis berbasis computer vision untuk: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 - Mendeteksi kematangan mangga secara objektif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 - Konsisten dan dapat direproduksi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 - Cepat dan efisien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• Solusi: segmentasi K-Means + ekstraksi warna RGB/HSV + Minimum Distance Classifier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Segoe UI"/>
              </a:defRPr>
            </a:pPr>
            <a:r>
              <a:t>RUMUSAN MASALAH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1. Bagaimana cara memisahkan objek mangga dari background secara otomatis?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→ K-Means Clustering dengan k=2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2. Fitur warna apa yang dapat membedakan mangga matang dan mentah?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→ Rata-rata RGB (Red, Green, Blue) dan HSV (Hue, Saturation, Value)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3. Bagaimana cara mengklasifikasikan kematangan berdasarkan fitur tersebut?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→ Minimum Distance Classifier (jarak Euclidean ke centroid kelas)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4. Seberapa akurat sistem yang dibangun?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→ Pengujian dengan confusion matrix, precision, recall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Segoe UI"/>
              </a:defRPr>
            </a:pPr>
            <a:r>
              <a:t>02  TUJUAN &amp; MANFAAT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TUJUAN: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• Membangun sistem deteksi kematangan mangga berbasis citra digital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• Mengimplementasikan K-Means Clustering untuk segmentasi objek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• Mengekstrak fitur warna RGB dan HSV sebagai parameter klasifikasi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• Menerapkan Minimum Distance Classifier untuk menentukan kematangan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MANFAAT: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• Otomatisasi sorting kematangan di industri pertanian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• Standarisasi penentuan kematangan yang objektif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• Mempercepat proses sortir mangga di skala besar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• Aplikasi desktop mudah digunakan (Tkinter GUI)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Segoe UI"/>
              </a:defRPr>
            </a:pPr>
            <a:r>
              <a:t>03  LANDASAN TEORI — K-Means Clustering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• Algoritma unsupervised learning untuk pengelompokan data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• Tujuan: membagi N data point ke dalam K cluster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• Setiap data point masuk ke cluster dengan centroid terdekat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Langkah-langkah: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1. Tentukan jumlah cluster K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2. Inisialisasi K centroid secara acak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3. Assign setiap data ke centroid terdekat (jarak Euclidean)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4. Hitung ulang centroid sebagai rata-rata semua data dalam cluster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5. Ulangi langkah 3-4 sampai konvergen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Implementasi: k=2 (mangga vs background), n_init=10, max_iter=300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Sumber: scikit-learn KMeans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Segoe UI"/>
              </a:defRPr>
            </a:pPr>
            <a:r>
              <a:t>LANDASAN TEORI — Color 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RGB (Red, Green, Blue):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• Rentang: 0-255 per channel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• Representasi warna dasar perangkat digital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• Mangga matang → Red tinggi, Mangga mentah → Green tinggi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HSV (Hue, Saturation, Value):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• Hue: 0-179 di OpenCV (warna dasar)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 0=Merah, 30=Kuning, 60=Hijau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 Mangga matang: Hue ~30-50 (kuning-oranye)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 Mangga mentah: Hue ~60-120 (hijau)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• Saturation: 0-255 (intensitas warna)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• Value: 0-255 (kecerahan)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HSV lebih robust terhadap perubahan pencahayaan dibanding RGB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Segoe UI"/>
              </a:defRPr>
            </a:pPr>
            <a:r>
              <a:t>LANDASAN TEORI — Minimum Distance Classifier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• Metode pattern recognition berbasis geometri (BUKAN machine learning)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• Tidak ada training iteratif, gradient descent, atau optimization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Training Phase: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• Hitung centroid tiap kelas = rata-rata feature vector [R,G,B,H,S,V]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• centroid_matang = mean(features_matang)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• centroid_mentah = mean(features_mentah)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Classification Phase: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• Hitung jarak Euclidean input ke setiap centroid: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 d = sqrt((R1-R2)² + (G1-G2)² + (B1-B2)² + (H1-H2)² + (S1-S2)² + (V1-V2)²)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• Pilih kelas dengan jarak terkecil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• Confidence = (1 - min_dist / (min_dist + max_dist)) × 100%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67E22"/>
                </a:solidFill>
                <a:latin typeface="Segoe UI"/>
              </a:defRPr>
            </a:pPr>
            <a:r>
              <a:t>004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METODOLOGI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274320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  <a:latin typeface="Segoe UI"/>
              </a:defRPr>
            </a:pPr>
            <a:r>
              <a:t>FLOWCHART SISTEM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18288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2286000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68880"/>
            <a:ext cx="2286000" cy="6400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Input Gambar</a:t>
            </a:r>
            <a:br/>
            <a:r>
              <a:t>(Mangga)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566160"/>
            <a:ext cx="2286000" cy="914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Resize + K-Means</a:t>
            </a:r>
            <a:br/>
            <a:r>
              <a:t>k=2 Segmentasi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937760"/>
            <a:ext cx="2286000" cy="6400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Binary Mask</a:t>
            </a:r>
            <a:br/>
            <a:r>
              <a:t>(Mangga area)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371600"/>
            <a:ext cx="2286000" cy="6400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Ekstraksi RGB</a:t>
            </a:r>
            <a:br/>
            <a:r>
              <a:t>(R, G, 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468880"/>
            <a:ext cx="2286000" cy="6400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Konversi BGR→HSV</a:t>
            </a:r>
            <a:br/>
            <a:r>
              <a:t>Ekstraksi H, S, 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3566160"/>
            <a:ext cx="2286000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Feature Vector</a:t>
            </a:r>
            <a:br/>
            <a:r>
              <a:t>[R,G,B,H,S,V]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4663440"/>
            <a:ext cx="2286000" cy="6400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Hitung Jarak Euclidean</a:t>
            </a:r>
            <a:br/>
            <a:r>
              <a:t>ke 2 Centroid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371600"/>
            <a:ext cx="228600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Centroid MATANG</a:t>
            </a:r>
            <a:br/>
            <a:r>
              <a:t>[dari training]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2468880"/>
            <a:ext cx="2286000" cy="6400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Centroid MENTAH</a:t>
            </a:r>
            <a:br/>
            <a:r>
              <a:t>[dari training]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5760720"/>
            <a:ext cx="3200400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Klasifikasi: JARAK MINIMUM</a:t>
            </a:r>
            <a:br/>
            <a:r>
              <a:t>→ MATANG / MENTAH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5029200"/>
            <a:ext cx="2560320" cy="6400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centroids.json</a:t>
            </a:r>
            <a:br/>
            <a:r>
              <a:t>(disimpan)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67E22"/>
                </a:solidFill>
                <a:latin typeface="Segoe UI"/>
              </a:defRPr>
            </a:pPr>
            <a:r>
              <a:t>005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274320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Segoe UI"/>
              </a:defRPr>
            </a:pPr>
            <a:r>
              <a:t>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Struktur folder: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dataset/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 ├── matang/      → 13 gambar mangga matang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 └── mentah/      → 17 gambar mangga mentah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Format: JPEG (.jpg)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Sumber: Dataset pribadi (foto langsung)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Split data (untuk testing):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• 70% Training — menghitung centroid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• 30% Testing — mengukur akurasi klasifikasi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• Split dilakukan per-kelas untuk menjaga proporsi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Prasyarat: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• Objek mangga dominan dalam gambar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• Background relatif sederhana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• Pencahayaan cukup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67E22"/>
                </a:solidFill>
                <a:latin typeface="Segoe UI"/>
              </a:defRPr>
            </a:pPr>
            <a:r>
              <a:t>006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PREPROCESSING &amp; SEGMENTASI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274320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Segoe UI"/>
              </a:defRPr>
            </a:pPr>
            <a:r>
              <a:t>TAHAP PREPROCESSING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1. Load Gambar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• Format: BGR (OpenCV default)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2. Resize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• Sisi terpanjang max 800px (K-Means processing)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• 400px (GUI preview), 600px (inference)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• Maintain aspect ratio, INTER_AREA interpolation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3. K-Means Segmentation (k=2)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• Reshape gambar ke array 2D (pixels × 3 channels)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• K-Means dengan n_init=10, max_iter=300, random_state=42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• Pilih cluster intensitas tertinggi sebagai mangga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4. Morphological Operations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• Closing (hilangkan lubang kecil dalam mask)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• Opening (hilangkan noise kecil di luar mask)</a:t>
            </a:r>
          </a:p>
          <a:p>
            <a:pPr>
              <a:spcAft>
                <a:spcPts val="600"/>
              </a:spcAft>
              <a:defRPr sz="1700">
                <a:solidFill>
                  <a:srgbClr val="2C3E50"/>
                </a:solidFill>
                <a:latin typeface="Segoe UI"/>
              </a:defRPr>
            </a:pPr>
            <a:r>
              <a:t>   • Kernel 5×5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  <a:latin typeface="Segoe UI"/>
              </a:defRPr>
            </a:pPr>
            <a:r>
              <a:t>VISUALISASI SEGMENTASI K-MEANS (k=2)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3200400" cy="2743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Segoe UI"/>
              </a:defRPr>
            </a:pPr>
            <a:r>
              <a:t>Original Image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828800"/>
            <a:ext cx="3200400" cy="27432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Segoe UI"/>
              </a:defRPr>
            </a:pPr>
            <a:r>
              <a:t>K-Means Mask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828800"/>
            <a:ext cx="3200400" cy="2743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Segoe UI"/>
              </a:defRPr>
            </a:pPr>
            <a:r>
              <a:t>Masked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CF0F1"/>
                </a:solidFill>
                <a:latin typeface="Segoe UI"/>
              </a:defRPr>
            </a:pPr>
            <a:r>
              <a:t>K-Means memisahkan pixel berdasarkan warna → 2 cluster: mangga (foreground) dan background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67E22"/>
                </a:solidFill>
                <a:latin typeface="Segoe UI"/>
              </a:defRPr>
            </a:pPr>
            <a:r>
              <a:t>007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EKSTRAKSI FITUR WARNA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274320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  <a:latin typeface="Segoe UI"/>
              </a:defRPr>
            </a:pPr>
            <a:r>
              <a:t>EKSTRAKSI FITUR RGB &amp; HSV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FITUR RGB: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mean_red   — rata-rata channel Red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mean_green — rata-rata channel Green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mean_blue  — rata-rata channel Blue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Rentang: 0-255 per channel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Hanya pixel dalam mask (mangga)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Rumus: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mean_R = sum(R[mask&gt;0]) / pixel_count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mean_G = sum(G[mask&gt;0]) / pixel_count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mean_B = sum(B[mask&gt;0]) / pixel_count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FITUR HSV: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mean_hue        — rata-rata Hue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mean_saturation — rata-rata Saturation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mean_value      — rata-rata Value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Konversi BGR → HSV (OpenCV):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Hue: 0-179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Saturation: 0-255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Value: 0-255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Feature Vector: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[R, G, B, H, S, V] (6 dimensi)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67E22"/>
                </a:solidFill>
                <a:latin typeface="Segoe UI"/>
              </a:defRPr>
            </a:pPr>
            <a:r>
              <a:t>008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KLASIFIKASI — MINIMUM DISTANCE CLASSIFIER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274320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  <a:latin typeface="Segoe UI"/>
              </a:defRPr>
            </a:pPr>
            <a:r>
              <a:t>MINIMUM DISTANCE CLASSIFIER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TRAINING PHASE: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Hitung centroid kelas MATANG: rata-rata [R,G,B,H,S,V] dari semua gambar matang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Hitung centroid kelas MENTAH: rata-rata [R,G,B,H,S,V] dari semua gambar mentah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Hitung threshold: distance_threshold = mean(intra-class distances) + 2×std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Confidence threshold: 60% (empiris)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Simpan ke centroids.json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CLASSIFICATION PHASE: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Input: feature vector [R,G,B,H,S,V] dari satu gambar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Hitung jarak Euclidean ke centroid_matang dan centroid_mentah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d_matang = sqrt((R-R_m)² + (G-G_m)² + (B-B_m)² + (H-H_m)² + (S-S_m)² + (V-V_m)²)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d_mentah = sqrt((R-R_mh)² + (G-G_mh)² + (B-B_mh)² + (H-H_mh)² + (S-S_mh)² + (V-V_mh)²)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DECISION: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IF d_matang &lt; d_mentah → MATANG (confidence = d_mentah / (d_matang+d_mentah) × 100%)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ELSE → MENTAH (confidence = d_matang / (d_matang+d_mentah) × 100%)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IF min_distance &gt; distance_threshold OR confidence &lt; 60% → TIDAK YAKIN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  <a:latin typeface="Segoe UI"/>
              </a:defRPr>
            </a:pPr>
            <a:r>
              <a:t>CENTROIDS HASIL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82880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2743200" y="1645920"/>
            <a:ext cx="1371600" cy="548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645920"/>
            <a:ext cx="1371600" cy="548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1645920"/>
            <a:ext cx="1371600" cy="548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Blue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645920"/>
            <a:ext cx="1371600" cy="548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Hue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645920"/>
            <a:ext cx="1828800" cy="548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Saturation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0" y="1645920"/>
            <a:ext cx="1554480" cy="548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194560"/>
            <a:ext cx="18288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MATANG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2194560"/>
            <a:ext cx="1371600" cy="457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193.12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2194560"/>
            <a:ext cx="1371600" cy="457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190.48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2194560"/>
            <a:ext cx="1371600" cy="457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187.83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2194560"/>
            <a:ext cx="1371600" cy="457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102.88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194560"/>
            <a:ext cx="1828800" cy="457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16.53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0" y="2194560"/>
            <a:ext cx="1554480" cy="457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195.70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2743200"/>
            <a:ext cx="182880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MENTAH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2743200"/>
            <a:ext cx="1371600" cy="4572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228.82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2743200"/>
            <a:ext cx="1371600" cy="4572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231.25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743200"/>
            <a:ext cx="1371600" cy="4572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229.57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2743200"/>
            <a:ext cx="1371600" cy="4572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38.46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743200"/>
            <a:ext cx="1828800" cy="4572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6.32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2743200"/>
            <a:ext cx="1554480" cy="4572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C3E50"/>
                </a:solidFill>
                <a:latin typeface="Segoe UI"/>
              </a:defRPr>
            </a:pPr>
            <a:r>
              <a:t>232.03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Segoe UI"/>
              </a:defRPr>
            </a:pPr>
            <a:r>
              <a:t>Parameter: distance_threshold = 149.91 | confidence_threshold = 60.0%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548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Segoe UI"/>
              </a:defRPr>
            </a:pPr>
            <a:r>
              <a:t>Analisis: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Segoe UI"/>
              </a:defRPr>
            </a:pPr>
            <a:r>
              <a:t>  • Hue MATANG (102.88) &gt;&gt; Hue MENTAH (38.46) → matang cenderung kuning, mentah cenderung hijau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Segoe UI"/>
              </a:defRPr>
            </a:pPr>
            <a:r>
              <a:t>  • Red MATANG sedikit lebih rendah dari MENTAH (menarik)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Segoe UI"/>
              </a:defRPr>
            </a:pPr>
            <a:r>
              <a:t>  • Saturation MATANG lebih tinggi → warna lebih vivid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67E22"/>
                </a:solidFill>
                <a:latin typeface="Segoe UI"/>
              </a:defRPr>
            </a:pPr>
            <a:r>
              <a:t>009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IMPLEMENTASI &amp; ARSITEKTUR SISTEM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274320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  <a:latin typeface="Segoe UI"/>
              </a:defRPr>
            </a:pPr>
            <a:r>
              <a:t>STRUKTUR PROYEK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Segoe UI"/>
              </a:defRPr>
            </a:pPr>
            <a:r>
              <a:t>leaf_identifier/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Segoe UI"/>
              </a:defRPr>
            </a:pPr>
            <a:r>
              <a:t>  ├── main.py              # Entry point GUI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Segoe UI"/>
              </a:defRPr>
            </a:pPr>
            <a:r>
              <a:t>  ├── gui.py               # Tkinter GUI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Segoe UI"/>
              </a:defRPr>
            </a:pPr>
            <a:r>
              <a:t>  ├── image_processor.py   # K-Means + fitur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Segoe UI"/>
              </a:defRPr>
            </a:pPr>
            <a:r>
              <a:t>  ├── classifier.py        # MDC classifier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Segoe UI"/>
              </a:defRPr>
            </a:pPr>
            <a:r>
              <a:t>  ├── train_classifier.py  # Training centroid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Segoe UI"/>
              </a:defRPr>
            </a:pPr>
            <a:r>
              <a:t>  ├── extract_features.py  # Ekstraksi dataset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Segoe UI"/>
              </a:defRPr>
            </a:pPr>
            <a:r>
              <a:t>  ├── inference.py         # Inference script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Segoe UI"/>
              </a:defRPr>
            </a:pPr>
            <a:r>
              <a:t>  ├── test_dataset.py      # Testing akurasi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Segoe UI"/>
              </a:defRPr>
            </a:pPr>
            <a:r>
              <a:t>  ├── test_inference.py    # Test inference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Segoe UI"/>
              </a:defRPr>
            </a:pPr>
            <a:r>
              <a:t>  ├── centroids.json       # Hasil training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Segoe UI"/>
              </a:defRPr>
            </a:pPr>
            <a:r>
              <a:t>  └── dataset/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Segoe UI"/>
              </a:defRPr>
            </a:pPr>
            <a:r>
              <a:t>        ├── matang/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Segoe UI"/>
              </a:defRPr>
            </a:pPr>
            <a:r>
              <a:t>        └── mentah/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TECH STACK: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• Python 3.8+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• OpenCV (cv2) — image processing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• scikit-learn — K-Means clustering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• NumPy — array operations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• Tkinter — GUI desktop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• Pillow (PIL) — image display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KEY ALGORITHMS: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• K-Means Clustering (k=2)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• Color space conversion (RGB↔HSV)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• Minimum Distance Classifier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67E22"/>
                </a:solidFill>
                <a:latin typeface="Segoe UI"/>
              </a:defRPr>
            </a:pPr>
            <a:r>
              <a:t>010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DEMO APLIKASI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274320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  <a:latin typeface="Segoe UI"/>
              </a:defRPr>
            </a:pPr>
            <a:r>
              <a:t>CARA MENJALANKAN APLIKASI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LANGKAH 1 — Training Classifier (wajib pertama kali):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python -m leaf_identifier.train_classifier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→ Menghitung centroid MATANG &amp; MENTAH dari dataset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→ Output: centroids.json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LANGKAH 2 — Jalankan GUI: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python -m leaf_identifier.main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→ Tampilan desktop dengan Tkinter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CARANYA: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1. Klik "Upload Gambar Mangga"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2. Pilih file gambar (.jpg, .jpeg, .png)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3. Sistem otomatis: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   - Segmentasi K-Means (k=2) → mask mangga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   - Ekstraksi RGB + HSV dari area mangga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   - Klasifikasi MDC → MATANG / MENTAH + confidence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ALTERNATIF — Inference via terminal: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python -m leaf_identifier.inference &lt;path_gambar&gt;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  → Menampilkan 3 window OpenCV: Original, Mask, Result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67E22"/>
                </a:solidFill>
                <a:latin typeface="Segoe UI"/>
              </a:defRPr>
            </a:pPr>
            <a:r>
              <a:t>011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HASIL PENGUJIAN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274320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  <a:latin typeface="Segoe UI"/>
              </a:defRPr>
            </a:pPr>
            <a:r>
              <a:t>PENGUJIAN AKURASI KLASIFIKASI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METRIK PENGUJIAN: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Accuracy = correct / total × 100%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Precision = TP / (TP + FP)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Recall = TP / (TP + FN)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Confusion Matrix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CONFUSION MATRIX: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                    Pred MATANG    Pred MENTAH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True MATANG           TP              FN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True MENTAH           FP              TP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Akurasi dihitung dari test set (30% data)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Split 70/30 per kelas dengan random seed=42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SAMPLE TEST yang dijalankan: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test_inference_samples.py menguji 6 gambar: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3 matang + 3 mentah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Output: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Label: MATANG / MENTAH / TIDAK YAKIN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Confidence score (%)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Jarak Euclidean ke kedua centroid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Kategori hasil: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✓ BENAR — prediksi sesuai label asli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✗ SALAH — prediksi berbeda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• TIDAK YAKIN — jarak terlalu jauh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  atau confidence &lt; 60%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67E22"/>
                </a:solidFill>
                <a:latin typeface="Segoe UI"/>
              </a:defRPr>
            </a:pPr>
            <a:r>
              <a:t>012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KESIMPULAN &amp; SARAN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274320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  <a:latin typeface="Segoe UI"/>
              </a:defRPr>
            </a:pPr>
            <a:r>
              <a:t>KESIMPULAN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22860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Segoe UI"/>
              </a:defRPr>
            </a:pPr>
            <a:r>
              <a:t>✓ K-Means Clustering (k=2) berhasil memisahkan mangga dari background secara otomatis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Segoe UI"/>
              </a:defRPr>
            </a:pPr>
            <a:r>
              <a:t>✓ Ekstraksi fitur RGB + HSV memberikan representasi warna yang membedakan tingkat kematangan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Segoe UI"/>
              </a:defRPr>
            </a:pPr>
            <a:r>
              <a:t>✓ Minimum Distance Classifier mampu mengklasifikasikan MATANG vs MENTAH dengan baik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Segoe UI"/>
              </a:defRPr>
            </a:pPr>
            <a:r>
              <a:t>✓ Sistem memiliki GUI desktop yang mudah digunakan (Tkinter)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Segoe UI"/>
              </a:defRPr>
            </a:pPr>
            <a:r>
              <a:t>✓ Deteksi bersifat real-time dan tidak memerlukan GPU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657600"/>
            <a:ext cx="10058400" cy="274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Segoe UI"/>
              </a:defRPr>
            </a:pPr>
            <a:r>
              <a:t>SARAN PENGEMBANGAN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Perbesar dataset (min 50+ gambar per kelas) untuk centroid yang lebih representatif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Tambahkan augmentasi data (rotasi, flip, brightness) untuk generalisasi lebih baik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Gunakan deep learning (CNN) untuk akurasi lebih tinggi jika dataset besar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Implementasi real-time video processing untuk sorting otomatis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Integrasi dengan hardware (kamera + conveyor) untuk industri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TERIMA KASIH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926080"/>
            <a:ext cx="2133295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CF0F1"/>
                </a:solidFill>
                <a:latin typeface="Segoe UI"/>
              </a:defRPr>
            </a:pPr>
            <a:r>
              <a:t>Sistem Deteksi Kematangan Mangga</a:t>
            </a:r>
            <a:br/>
            <a:r>
              <a:t>K-Means Clustering &amp; Minimum Distance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CF0F1"/>
                </a:solidFill>
                <a:latin typeface="Segoe UI"/>
              </a:defRPr>
            </a:pPr>
            <a:r>
              <a:t>Pertanyaan &amp; Diskusi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